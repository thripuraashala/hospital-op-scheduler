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822960"/>
            <a:ext cx="914400" cy="914400"/>
          </a:xfrm>
          <a:prstGeom prst="ellipse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1417320"/>
            <a:ext cx="411480" cy="411480"/>
          </a:xfrm>
          <a:prstGeom prst="ellipse">
            <a:avLst/>
          </a:prstGeom>
          <a:solidFill>
            <a:srgbClr val="4DE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55480" y="1645920"/>
            <a:ext cx="457200" cy="457200"/>
          </a:xfrm>
          <a:prstGeom prst="ellipse">
            <a:avLst/>
          </a:prstGeom>
          <a:solidFill>
            <a:srgbClr val="A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8961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F5F8FC"/>
                </a:solidFill>
                <a:latin typeface="Aptos Display"/>
              </a:rPr>
              <a:t>SMART HOSPITAL
APPOINTMENT SCHEDULER</a:t>
            </a:r>
          </a:p>
          <a:p>
            <a:r>
              <a:rPr sz="1700">
                <a:solidFill>
                  <a:srgbClr val="38D3FF"/>
                </a:solidFill>
                <a:latin typeface="Aptos"/>
              </a:rPr>
              <a:t>A DAA-powered prototype for faster, fairer appointment allocation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63240"/>
            <a:ext cx="1508760" cy="384048"/>
          </a:xfrm>
          <a:prstGeom prst="roundRect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952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ptos"/>
              </a:rPr>
              <a:t>GREEDY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3063240"/>
            <a:ext cx="1965960" cy="384048"/>
          </a:xfrm>
          <a:prstGeom prst="roundRect">
            <a:avLst/>
          </a:prstGeom>
          <a:solidFill>
            <a:srgbClr val="4DE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3095244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ptos"/>
              </a:rPr>
              <a:t>PRIORITY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063240"/>
            <a:ext cx="1417320" cy="384048"/>
          </a:xfrm>
          <a:prstGeom prst="round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095244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ptos"/>
              </a:rPr>
              <a:t>SORTING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40480"/>
            <a:ext cx="3337560" cy="150876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840480"/>
            <a:ext cx="64008" cy="1508760"/>
          </a:xfrm>
          <a:prstGeom prst="rect">
            <a:avLst/>
          </a:prstGeom>
          <a:solidFill>
            <a:srgbClr val="FF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005072"/>
            <a:ext cx="29535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8FC"/>
                </a:solidFill>
                <a:latin typeface="Aptos"/>
              </a:rPr>
              <a:t>The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498848"/>
            <a:ext cx="2953512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1BED2"/>
                </a:solidFill>
                <a:latin typeface="Aptos"/>
              </a:rPr>
              <a:t>Doctor availability + patient urgency + time slots must be handled together.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840480"/>
            <a:ext cx="3337560" cy="150876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840480"/>
            <a:ext cx="64008" cy="1508760"/>
          </a:xfrm>
          <a:prstGeom prst="rect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4005072"/>
            <a:ext cx="29535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8FC"/>
                </a:solidFill>
                <a:latin typeface="Aptos"/>
              </a:rPr>
              <a:t>Our idea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498848"/>
            <a:ext cx="2953512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1BED2"/>
                </a:solidFill>
                <a:latin typeface="Aptos"/>
              </a:rPr>
              <a:t>Turn those rules into an explainable scheduling engine that updates the queue as patients arrive.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840480"/>
            <a:ext cx="3337560" cy="150876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840480"/>
            <a:ext cx="64008" cy="1508760"/>
          </a:xfrm>
          <a:prstGeom prst="rect">
            <a:avLst/>
          </a:prstGeom>
          <a:solidFill>
            <a:srgbClr val="4DE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8" y="4005072"/>
            <a:ext cx="29535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8FC"/>
                </a:solidFill>
                <a:latin typeface="Aptos"/>
              </a:rPr>
              <a:t>Demo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8" y="4498848"/>
            <a:ext cx="2953512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1BED2"/>
                </a:solidFill>
                <a:latin typeface="Aptos"/>
              </a:rPr>
              <a:t>Show the final appointment order, assigned doctor, time slot and waiting 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967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B1BED2"/>
                </a:solidFill>
                <a:latin typeface="Aptos"/>
              </a:rPr>
              <a:t>DAA Hackathon • Hospital Appointment Scheduler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1. The Real-World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ED2"/>
                </a:solidFill>
                <a:latin typeface="Aptos"/>
              </a:rPr>
              <a:t>Hospitals have limited doctors and many patients with different urgency levels.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03520" cy="425196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A normal FIFO queue can delay urgent patients.</a:t>
            </a:r>
          </a:p>
          <a:p>
            <a:pPr>
              <a:spcAft>
                <a:spcPts val="1000"/>
              </a:spcAft>
              <a:defRPr sz="1500">
                <a:solidFill>
                  <a:srgbClr val="B1BED2"/>
                </a:solidFill>
                <a:latin typeface="Aptos"/>
              </a:defRPr>
            </a:pPr>
            <a:r>
              <a:t>• A doctor may be unavailable or unsuitable for a particular patient.</a:t>
            </a:r>
          </a:p>
          <a:p>
            <a:pPr>
              <a:spcAft>
                <a:spcPts val="1000"/>
              </a:spcAft>
              <a:defRPr sz="1500">
                <a:solidFill>
                  <a:srgbClr val="B1BED2"/>
                </a:solidFill>
                <a:latin typeface="Aptos"/>
              </a:defRPr>
            </a:pPr>
            <a:r>
              <a:t>• Walk-ins can arrive after the schedule is already created.</a:t>
            </a:r>
          </a:p>
          <a:p>
            <a:pPr>
              <a:spcAft>
                <a:spcPts val="1000"/>
              </a:spcAft>
              <a:defRPr sz="1500">
                <a:solidFill>
                  <a:srgbClr val="B1BED2"/>
                </a:solidFill>
                <a:latin typeface="Aptos"/>
              </a:defRPr>
            </a:pPr>
            <a:r>
              <a:t>• Long waiting times create congestion and reduce patient satisfaction.</a:t>
            </a:r>
          </a:p>
          <a:p>
            <a:pPr>
              <a:spcAft>
                <a:spcPts val="1000"/>
              </a:spcAft>
              <a:defRPr sz="1500">
                <a:solidFill>
                  <a:srgbClr val="B1BED2"/>
                </a:solidFill>
                <a:latin typeface="Aptos"/>
              </a:defRPr>
            </a:pPr>
            <a:r>
              <a:t>• The scheduler must make a decision that is fast AND explainable.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94960" cy="105156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64008" cy="1051560"/>
          </a:xfrm>
          <a:prstGeom prst="rect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81912"/>
            <a:ext cx="50109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  <a:latin typeface="Aptos"/>
              </a:rPr>
              <a:t>Example: 5 patients waiting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075688"/>
            <a:ext cx="5010912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1BED2"/>
                </a:solidFill>
                <a:latin typeface="Aptos"/>
              </a:rPr>
              <a:t>The arrival order is not always the service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743200"/>
            <a:ext cx="1508760" cy="914400"/>
          </a:xfrm>
          <a:prstGeom prst="roundRect">
            <a:avLst/>
          </a:prstGeom>
          <a:solidFill>
            <a:srgbClr val="192841"/>
          </a:solidFill>
          <a:ln>
            <a:solidFill>
              <a:srgbClr val="B1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83464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F8FC"/>
                </a:solidFill>
              </a:rPr>
              <a:t>P1 • Routine</a:t>
            </a:r>
          </a:p>
          <a:p>
            <a:r>
              <a:rPr sz="1000">
                <a:solidFill>
                  <a:srgbClr val="B1BED2"/>
                </a:solidFill>
              </a:rPr>
              <a:t>10:00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2712" y="2743200"/>
            <a:ext cx="1508760" cy="914400"/>
          </a:xfrm>
          <a:prstGeom prst="roundRect">
            <a:avLst/>
          </a:prstGeom>
          <a:solidFill>
            <a:srgbClr val="192841"/>
          </a:solidFill>
          <a:ln>
            <a:solidFill>
              <a:srgbClr val="FF6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83464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F8FC"/>
                </a:solidFill>
              </a:rPr>
              <a:t>P2 • Emergency</a:t>
            </a:r>
          </a:p>
          <a:p>
            <a:r>
              <a:rPr sz="1000">
                <a:solidFill>
                  <a:srgbClr val="B1BED2"/>
                </a:solidFill>
              </a:rPr>
              <a:t>10:05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01784" y="2743200"/>
            <a:ext cx="1508760" cy="914400"/>
          </a:xfrm>
          <a:prstGeom prst="roundRect">
            <a:avLst/>
          </a:prstGeom>
          <a:solidFill>
            <a:srgbClr val="192841"/>
          </a:solidFill>
          <a:ln>
            <a:solidFill>
              <a:srgbClr val="B1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11511" y="283464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F8FC"/>
                </a:solidFill>
              </a:rPr>
              <a:t>P3 • Follow-up</a:t>
            </a:r>
          </a:p>
          <a:p>
            <a:r>
              <a:rPr sz="1000">
                <a:solidFill>
                  <a:srgbClr val="B1BED2"/>
                </a:solidFill>
              </a:rPr>
              <a:t>10:10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977639"/>
            <a:ext cx="1508760" cy="914400"/>
          </a:xfrm>
          <a:prstGeom prst="roundRect">
            <a:avLst/>
          </a:prstGeom>
          <a:solidFill>
            <a:srgbClr val="192841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4069079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F8FC"/>
                </a:solidFill>
              </a:rPr>
              <a:t>P4 • Urgent</a:t>
            </a:r>
          </a:p>
          <a:p>
            <a:r>
              <a:rPr sz="1000">
                <a:solidFill>
                  <a:srgbClr val="B1BED2"/>
                </a:solidFill>
              </a:rPr>
              <a:t>10:12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3977639"/>
            <a:ext cx="1508760" cy="914400"/>
          </a:xfrm>
          <a:prstGeom prst="roundRect">
            <a:avLst/>
          </a:prstGeom>
          <a:solidFill>
            <a:srgbClr val="192841"/>
          </a:solidFill>
          <a:ln>
            <a:solidFill>
              <a:srgbClr val="B1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4069079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F8FC"/>
                </a:solidFill>
              </a:rPr>
              <a:t>P5 • Routine</a:t>
            </a:r>
          </a:p>
          <a:p>
            <a:r>
              <a:rPr sz="1000">
                <a:solidFill>
                  <a:srgbClr val="B1BED2"/>
                </a:solidFill>
              </a:rPr>
              <a:t>10:15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5257800"/>
            <a:ext cx="5394960" cy="82296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5257800"/>
            <a:ext cx="64008" cy="822960"/>
          </a:xfrm>
          <a:prstGeom prst="rect">
            <a:avLst/>
          </a:prstGeom>
          <a:solidFill>
            <a:srgbClr val="A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5422392"/>
            <a:ext cx="50109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8FC"/>
                </a:solidFill>
                <a:latin typeface="Aptos"/>
              </a:rPr>
              <a:t>Key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5916168"/>
            <a:ext cx="50109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1BED2"/>
                </a:solidFill>
                <a:latin typeface="Aptos"/>
              </a:rPr>
              <a:t>We should not simply “pick the next patient” — we should evaluate urgency, feasibility and timing.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967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B1BED2"/>
                </a:solidFill>
                <a:latin typeface="Aptos"/>
              </a:rPr>
              <a:t>DAA Hackathon • Hospital Appointment Scheduler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2. Our DAA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ED2"/>
                </a:solidFill>
                <a:latin typeface="Aptos"/>
              </a:rPr>
              <a:t>Three algorithms work together instead of competing with each other.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196596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1965960"/>
          </a:xfrm>
          <a:prstGeom prst="rect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31363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8FC"/>
                </a:solidFill>
                <a:latin typeface="Aptos"/>
              </a:rPr>
              <a:t>GREEDY — choose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84248"/>
            <a:ext cx="31363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1BED2"/>
                </a:solidFill>
                <a:latin typeface="Aptos"/>
              </a:rPr>
              <a:t>At each decision point, choose the best feasible option according to the current rule: earliest suitable slot / doctor.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196596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64008" cy="1965960"/>
          </a:xfrm>
          <a:prstGeom prst="rect">
            <a:avLst/>
          </a:prstGeom>
          <a:solidFill>
            <a:srgbClr val="FF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1363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8FC"/>
                </a:solidFill>
                <a:latin typeface="Aptos"/>
              </a:rPr>
              <a:t>PRIORITY QUEUE — urgency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84248"/>
            <a:ext cx="31363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1BED2"/>
                </a:solidFill>
                <a:latin typeface="Aptos"/>
              </a:rPr>
              <a:t>Maintain patients by priority. Emergency and high-urgency cases can move ahead of routine cases.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520440" cy="196596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64008" cy="196596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90472"/>
            <a:ext cx="31363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8FC"/>
                </a:solidFill>
                <a:latin typeface="Aptos"/>
              </a:rPr>
              <a:t>SORTING — organize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84248"/>
            <a:ext cx="31363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1BED2"/>
                </a:solidFill>
                <a:latin typeface="Aptos"/>
              </a:rPr>
              <a:t>Sort candidates by priority, appointment time or waiting time so the final order is clear and consistent.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14800"/>
            <a:ext cx="1965960" cy="777240"/>
          </a:xfrm>
          <a:prstGeom prst="roundRect">
            <a:avLst/>
          </a:prstGeom>
          <a:solidFill>
            <a:srgbClr val="192841"/>
          </a:solidFill>
          <a:ln>
            <a:solidFill>
              <a:srgbClr val="38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1596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</a:rPr>
              <a:t>Patient input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852928" y="4325112"/>
            <a:ext cx="594360" cy="320040"/>
          </a:xfrm>
          <a:prstGeom prst="rightArrow">
            <a:avLst/>
          </a:prstGeom>
          <a:solidFill>
            <a:srgbClr val="B1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4114800"/>
            <a:ext cx="1965960" cy="777240"/>
          </a:xfrm>
          <a:prstGeom prst="roundRect">
            <a:avLst/>
          </a:prstGeom>
          <a:solidFill>
            <a:srgbClr val="192841"/>
          </a:solidFill>
          <a:ln>
            <a:solidFill>
              <a:srgbClr val="FF6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31596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</a:rPr>
              <a:t>Priority score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687568" y="4325112"/>
            <a:ext cx="594360" cy="320040"/>
          </a:xfrm>
          <a:prstGeom prst="rightArrow">
            <a:avLst/>
          </a:prstGeom>
          <a:solidFill>
            <a:srgbClr val="B1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4114800"/>
            <a:ext cx="1965960" cy="777240"/>
          </a:xfrm>
          <a:prstGeom prst="roundRect">
            <a:avLst/>
          </a:prstGeom>
          <a:solidFill>
            <a:srgbClr val="192841"/>
          </a:solidFill>
          <a:ln>
            <a:solidFill>
              <a:srgbClr val="4DE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31596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</a:rPr>
              <a:t>Feasible slot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522208" y="4325112"/>
            <a:ext cx="594360" cy="320040"/>
          </a:xfrm>
          <a:prstGeom prst="rightArrow">
            <a:avLst/>
          </a:prstGeom>
          <a:solidFill>
            <a:srgbClr val="B1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26880" y="4114800"/>
            <a:ext cx="1965960" cy="777240"/>
          </a:xfrm>
          <a:prstGeom prst="roundRect">
            <a:avLst/>
          </a:prstGeom>
          <a:solidFill>
            <a:srgbClr val="192841"/>
          </a:solidFill>
          <a:ln>
            <a:solidFill>
              <a:srgbClr val="A6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31596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</a:rPr>
              <a:t>Final schedule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5257800"/>
            <a:ext cx="8503920" cy="82296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0" y="5257800"/>
            <a:ext cx="64008" cy="822960"/>
          </a:xfrm>
          <a:prstGeom prst="rect">
            <a:avLst/>
          </a:prstGeom>
          <a:solidFill>
            <a:srgbClr val="4DE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9968" y="5422392"/>
            <a:ext cx="81198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8FC"/>
                </a:solidFill>
                <a:latin typeface="Aptos"/>
              </a:rPr>
              <a:t>Why this combination?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5916168"/>
            <a:ext cx="811987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1BED2"/>
                </a:solidFill>
                <a:latin typeface="Aptos"/>
              </a:rPr>
              <a:t>Priority Queue decides WHO needs attention • Greedy decides WHICH feasible option to take • Sorting makes the final schedule structured.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1967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B1BED2"/>
                </a:solidFill>
                <a:latin typeface="Aptos"/>
              </a:rPr>
              <a:t>DAA Hackathon • Hospital Appointment Scheduler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3. How the Scheduler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ED2"/>
                </a:solidFill>
                <a:latin typeface="Aptos"/>
              </a:rPr>
              <a:t>A simple pipeline that a judge can understand in one minute.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234440"/>
            <a:ext cx="566928" cy="566928"/>
          </a:xfrm>
          <a:prstGeom prst="ellipse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188720"/>
            <a:ext cx="9784080" cy="713232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1188720"/>
            <a:ext cx="64008" cy="713232"/>
          </a:xfrm>
          <a:prstGeom prst="rect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8488" y="1353312"/>
            <a:ext cx="9400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8FC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1847088"/>
            <a:ext cx="9400032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1BED2"/>
                </a:solidFill>
                <a:latin typeface="Aptos"/>
              </a:rPr>
              <a:t>Patient ID, urgency, appointment preference, required specialty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194560"/>
            <a:ext cx="566928" cy="566928"/>
          </a:xfrm>
          <a:prstGeom prst="ellipse">
            <a:avLst/>
          </a:prstGeom>
          <a:solidFill>
            <a:srgbClr val="4DE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1343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2148840"/>
            <a:ext cx="9784080" cy="713232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17320" y="2148840"/>
            <a:ext cx="64008" cy="713232"/>
          </a:xfrm>
          <a:prstGeom prst="rect">
            <a:avLst/>
          </a:prstGeom>
          <a:solidFill>
            <a:srgbClr val="4DE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8" y="2313432"/>
            <a:ext cx="9400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8FC"/>
                </a:solidFill>
                <a:latin typeface="Aptos"/>
              </a:rPr>
              <a:t>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2807208"/>
            <a:ext cx="9400032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1BED2"/>
                </a:solidFill>
                <a:latin typeface="Aptos"/>
              </a:rPr>
              <a:t>Find doctors who are available and suitable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154680"/>
            <a:ext cx="566928" cy="566928"/>
          </a:xfrm>
          <a:prstGeom prst="ellipse">
            <a:avLst/>
          </a:prstGeom>
          <a:solidFill>
            <a:srgbClr val="FF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27355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3108960"/>
            <a:ext cx="9784080" cy="713232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17320" y="3108960"/>
            <a:ext cx="64008" cy="713232"/>
          </a:xfrm>
          <a:prstGeom prst="rect">
            <a:avLst/>
          </a:prstGeom>
          <a:solidFill>
            <a:srgbClr val="FF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18488" y="3273552"/>
            <a:ext cx="9400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8FC"/>
                </a:solidFill>
                <a:latin typeface="Aptos"/>
              </a:rPr>
              <a:t>PRIORITIZE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3767328"/>
            <a:ext cx="9400032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1BED2"/>
                </a:solidFill>
                <a:latin typeface="Aptos"/>
              </a:rPr>
              <a:t>Priority Queue ranks patients using the defined rule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4114800"/>
            <a:ext cx="566928" cy="566928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23367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4069080"/>
            <a:ext cx="9784080" cy="713232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17320" y="4069080"/>
            <a:ext cx="64008" cy="7132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18488" y="4233672"/>
            <a:ext cx="9400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8FC"/>
                </a:solidFill>
                <a:latin typeface="Aptos"/>
              </a:rPr>
              <a:t>ALLOCATE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4727448"/>
            <a:ext cx="9400032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1BED2"/>
                </a:solidFill>
                <a:latin typeface="Aptos"/>
              </a:rPr>
              <a:t>Greedy choice selects the earliest feasible doctor + slot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" y="5074920"/>
            <a:ext cx="566928" cy="566928"/>
          </a:xfrm>
          <a:prstGeom prst="ellipse">
            <a:avLst/>
          </a:prstGeom>
          <a:solidFill>
            <a:srgbClr val="A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19379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</a:rPr>
              <a:t>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17320" y="5029200"/>
            <a:ext cx="9784080" cy="713232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17320" y="5029200"/>
            <a:ext cx="64008" cy="713232"/>
          </a:xfrm>
          <a:prstGeom prst="rect">
            <a:avLst/>
          </a:prstGeom>
          <a:solidFill>
            <a:srgbClr val="A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18488" y="5193792"/>
            <a:ext cx="9400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8FC"/>
                </a:solidFill>
                <a:latin typeface="Aptos"/>
              </a:rPr>
              <a:t>SORT &amp; DISPLAY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8488" y="5687568"/>
            <a:ext cx="9400032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1BED2"/>
                </a:solidFill>
                <a:latin typeface="Aptos"/>
              </a:rPr>
              <a:t>Sort final appointments by time and show waiting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51967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B1BED2"/>
                </a:solidFill>
                <a:latin typeface="Aptos"/>
              </a:rPr>
              <a:t>DAA Hackathon • Hospital Appointment Scheduler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4. Live Demo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ED2"/>
                </a:solidFill>
                <a:latin typeface="Aptos"/>
              </a:rPr>
              <a:t>Imagine a clinic at 10:00 AM with two doctors and five patients.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743200" cy="141732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64008" cy="1417320"/>
          </a:xfrm>
          <a:prstGeom prst="rect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99032"/>
            <a:ext cx="2359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8FC"/>
                </a:solidFill>
                <a:latin typeface="Aptos"/>
              </a:rPr>
              <a:t>👨‍⚕️ Dr.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92808"/>
            <a:ext cx="2359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1BED2"/>
                </a:solidFill>
                <a:latin typeface="Aptos"/>
              </a:rPr>
              <a:t>General Medicine
Available: 10:00–12:00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834640"/>
            <a:ext cx="2743200" cy="141732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834640"/>
            <a:ext cx="64008" cy="1417320"/>
          </a:xfrm>
          <a:prstGeom prst="rect">
            <a:avLst/>
          </a:prstGeom>
          <a:solidFill>
            <a:srgbClr val="4DE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999232"/>
            <a:ext cx="2359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8FC"/>
                </a:solidFill>
                <a:latin typeface="Aptos"/>
              </a:rPr>
              <a:t>👩‍⚕️ Dr.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493008"/>
            <a:ext cx="2359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1BED2"/>
                </a:solidFill>
                <a:latin typeface="Aptos"/>
              </a:rPr>
              <a:t>Pediatrics
Available: 10:00–11:30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234440"/>
            <a:ext cx="1005840" cy="475488"/>
          </a:xfrm>
          <a:prstGeom prst="rect">
            <a:avLst/>
          </a:prstGeom>
          <a:solidFill>
            <a:srgbClr val="192841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3" y="1344168"/>
            <a:ext cx="8961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</a:rPr>
              <a:t>Patient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234440"/>
            <a:ext cx="1508760" cy="475488"/>
          </a:xfrm>
          <a:prstGeom prst="rect">
            <a:avLst/>
          </a:prstGeom>
          <a:solidFill>
            <a:srgbClr val="192841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3" y="1344168"/>
            <a:ext cx="139903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</a:rPr>
              <a:t>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234440"/>
            <a:ext cx="1005840" cy="475488"/>
          </a:xfrm>
          <a:prstGeom prst="rect">
            <a:avLst/>
          </a:prstGeom>
          <a:solidFill>
            <a:srgbClr val="192841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344168"/>
            <a:ext cx="8961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</a:rPr>
              <a:t>Arrives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1234440"/>
            <a:ext cx="1097280" cy="475488"/>
          </a:xfrm>
          <a:prstGeom prst="rect">
            <a:avLst/>
          </a:prstGeom>
          <a:solidFill>
            <a:srgbClr val="192841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3" y="1344168"/>
            <a:ext cx="9875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</a:rPr>
              <a:t>Priority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19" y="1234440"/>
            <a:ext cx="1325880" cy="475488"/>
          </a:xfrm>
          <a:prstGeom prst="rect">
            <a:avLst/>
          </a:prstGeom>
          <a:solidFill>
            <a:srgbClr val="192841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3" y="1344168"/>
            <a:ext cx="12161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</a:rPr>
              <a:t>Need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1737360"/>
            <a:ext cx="1005840" cy="548640"/>
          </a:xfrm>
          <a:prstGeom prst="rect">
            <a:avLst/>
          </a:prstGeom>
          <a:solidFill>
            <a:srgbClr val="141F34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18562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P1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737360"/>
            <a:ext cx="1508760" cy="548640"/>
          </a:xfrm>
          <a:prstGeom prst="rect">
            <a:avLst/>
          </a:prstGeom>
          <a:solidFill>
            <a:srgbClr val="141F34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1856232"/>
            <a:ext cx="14173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Routine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737360"/>
            <a:ext cx="1005840" cy="548640"/>
          </a:xfrm>
          <a:prstGeom prst="rect">
            <a:avLst/>
          </a:prstGeom>
          <a:solidFill>
            <a:srgbClr val="141F34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8562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10:00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1737360"/>
            <a:ext cx="1097280" cy="548640"/>
          </a:xfrm>
          <a:prstGeom prst="rect">
            <a:avLst/>
          </a:prstGeom>
          <a:solidFill>
            <a:srgbClr val="141F34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59" y="1856232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1737360"/>
            <a:ext cx="1325880" cy="548640"/>
          </a:xfrm>
          <a:prstGeom prst="rect">
            <a:avLst/>
          </a:prstGeom>
          <a:solidFill>
            <a:srgbClr val="141F34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856232"/>
            <a:ext cx="1234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General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2304288"/>
            <a:ext cx="1005840" cy="548640"/>
          </a:xfrm>
          <a:prstGeom prst="rect">
            <a:avLst/>
          </a:prstGeom>
          <a:solidFill>
            <a:srgbClr val="192841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24231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P2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2304288"/>
            <a:ext cx="1508760" cy="548640"/>
          </a:xfrm>
          <a:prstGeom prst="rect">
            <a:avLst/>
          </a:prstGeom>
          <a:solidFill>
            <a:srgbClr val="192841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59" y="2423160"/>
            <a:ext cx="14173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Emergency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304288"/>
            <a:ext cx="1005840" cy="548640"/>
          </a:xfrm>
          <a:prstGeom prst="rect">
            <a:avLst/>
          </a:prstGeom>
          <a:solidFill>
            <a:srgbClr val="192841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24231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10:05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2304288"/>
            <a:ext cx="1097280" cy="548640"/>
          </a:xfrm>
          <a:prstGeom prst="rect">
            <a:avLst/>
          </a:prstGeom>
          <a:solidFill>
            <a:srgbClr val="192841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59" y="2423160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F6270"/>
                </a:solidFill>
              </a:rPr>
              <a:t>HIGH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19" y="2304288"/>
            <a:ext cx="1325880" cy="548640"/>
          </a:xfrm>
          <a:prstGeom prst="rect">
            <a:avLst/>
          </a:prstGeom>
          <a:solidFill>
            <a:srgbClr val="192841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2423160"/>
            <a:ext cx="1234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General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0" y="2871216"/>
            <a:ext cx="1005840" cy="548640"/>
          </a:xfrm>
          <a:prstGeom prst="rect">
            <a:avLst/>
          </a:prstGeom>
          <a:solidFill>
            <a:srgbClr val="141F34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03320" y="2990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P3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2871216"/>
            <a:ext cx="1508760" cy="548640"/>
          </a:xfrm>
          <a:prstGeom prst="rect">
            <a:avLst/>
          </a:prstGeom>
          <a:solidFill>
            <a:srgbClr val="141F34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9159" y="2990088"/>
            <a:ext cx="14173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Follow-up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2871216"/>
            <a:ext cx="1005840" cy="548640"/>
          </a:xfrm>
          <a:prstGeom prst="rect">
            <a:avLst/>
          </a:prstGeom>
          <a:solidFill>
            <a:srgbClr val="141F34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2990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10:10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78040" y="2871216"/>
            <a:ext cx="1097280" cy="548640"/>
          </a:xfrm>
          <a:prstGeom prst="rect">
            <a:avLst/>
          </a:prstGeom>
          <a:solidFill>
            <a:srgbClr val="141F34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23759" y="2990088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Medium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75319" y="2871216"/>
            <a:ext cx="1325880" cy="548640"/>
          </a:xfrm>
          <a:prstGeom prst="rect">
            <a:avLst/>
          </a:prstGeom>
          <a:solidFill>
            <a:srgbClr val="141F34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2990088"/>
            <a:ext cx="1234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General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0" y="3438144"/>
            <a:ext cx="1005840" cy="548640"/>
          </a:xfrm>
          <a:prstGeom prst="rect">
            <a:avLst/>
          </a:prstGeom>
          <a:solidFill>
            <a:srgbClr val="192841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03320" y="355701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P4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3438144"/>
            <a:ext cx="1508760" cy="548640"/>
          </a:xfrm>
          <a:prstGeom prst="rect">
            <a:avLst/>
          </a:prstGeom>
          <a:solidFill>
            <a:srgbClr val="192841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09159" y="3557015"/>
            <a:ext cx="14173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Child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3438144"/>
            <a:ext cx="1005840" cy="548640"/>
          </a:xfrm>
          <a:prstGeom prst="rect">
            <a:avLst/>
          </a:prstGeom>
          <a:solidFill>
            <a:srgbClr val="192841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355701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10:12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78040" y="3438144"/>
            <a:ext cx="1097280" cy="548640"/>
          </a:xfrm>
          <a:prstGeom prst="rect">
            <a:avLst/>
          </a:prstGeom>
          <a:solidFill>
            <a:srgbClr val="192841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23759" y="3557015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F6270"/>
                </a:solidFill>
              </a:rPr>
              <a:t>HIGH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19" y="3438144"/>
            <a:ext cx="1325880" cy="548640"/>
          </a:xfrm>
          <a:prstGeom prst="rect">
            <a:avLst/>
          </a:prstGeom>
          <a:solidFill>
            <a:srgbClr val="192841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1040" y="3557015"/>
            <a:ext cx="1234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Pediatrics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0" y="4005072"/>
            <a:ext cx="1005840" cy="548640"/>
          </a:xfrm>
          <a:prstGeom prst="rect">
            <a:avLst/>
          </a:prstGeom>
          <a:solidFill>
            <a:srgbClr val="141F34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03320" y="412394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P5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3440" y="4005072"/>
            <a:ext cx="1508760" cy="548640"/>
          </a:xfrm>
          <a:prstGeom prst="rect">
            <a:avLst/>
          </a:prstGeom>
          <a:solidFill>
            <a:srgbClr val="141F34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09159" y="4123944"/>
            <a:ext cx="14173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Routine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72200" y="4005072"/>
            <a:ext cx="1005840" cy="548640"/>
          </a:xfrm>
          <a:prstGeom prst="rect">
            <a:avLst/>
          </a:prstGeom>
          <a:solidFill>
            <a:srgbClr val="141F34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412394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10:15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78040" y="4005072"/>
            <a:ext cx="1097280" cy="548640"/>
          </a:xfrm>
          <a:prstGeom prst="rect">
            <a:avLst/>
          </a:prstGeom>
          <a:solidFill>
            <a:srgbClr val="141F34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23759" y="4123944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Low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75319" y="4005072"/>
            <a:ext cx="1325880" cy="548640"/>
          </a:xfrm>
          <a:prstGeom prst="rect">
            <a:avLst/>
          </a:prstGeom>
          <a:solidFill>
            <a:srgbClr val="141F34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21040" y="4123944"/>
            <a:ext cx="1234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F5F8FC"/>
                </a:solidFill>
              </a:rPr>
              <a:t>General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57600" y="4983480"/>
            <a:ext cx="7315200" cy="96012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657600" y="4983480"/>
            <a:ext cx="64008" cy="960120"/>
          </a:xfrm>
          <a:prstGeom prst="rect">
            <a:avLst/>
          </a:prstGeom>
          <a:solidFill>
            <a:srgbClr val="4DE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58768" y="5148072"/>
            <a:ext cx="6931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8FC"/>
                </a:solidFill>
                <a:latin typeface="Aptos"/>
              </a:rPr>
              <a:t>Scheduler decision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58768" y="5641848"/>
            <a:ext cx="69311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1BED2"/>
                </a:solidFill>
                <a:latin typeface="Aptos"/>
              </a:rPr>
              <a:t>P2 gets an earlier General Medicine slot because it has HIGH priority; P4 is routed to Dr. B because specialty + availability match. Remaining patients are placed into feasible slots.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" y="651967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B1BED2"/>
                </a:solidFill>
                <a:latin typeface="Aptos"/>
              </a:rPr>
              <a:t>Example scenario for demonstration — not a clinical triage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5. Algorithm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ED2"/>
                </a:solidFill>
                <a:latin typeface="Aptos"/>
              </a:rPr>
              <a:t>The prototype can show how the schedule changes when the decision rule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347472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3474720"/>
          </a:xfrm>
          <a:prstGeom prst="rect">
            <a:avLst/>
          </a:prstGeom>
          <a:solidFill>
            <a:srgbClr val="B1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30906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8FC"/>
                </a:solidFill>
                <a:latin typeface="Aptos"/>
              </a:rPr>
              <a:t>FIFO / simple 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84248"/>
            <a:ext cx="309067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1BED2"/>
                </a:solidFill>
                <a:latin typeface="Aptos"/>
              </a:rPr>
              <a:t>Rule
Serve in arrival order.
Behavior
Easy and fair for equal-priority patients, but an emergency arriving later may wait.
Best used as
A baseline for comparison.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347472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64008" cy="3474720"/>
          </a:xfrm>
          <a:prstGeom prst="rect">
            <a:avLst/>
          </a:prstGeom>
          <a:solidFill>
            <a:srgbClr val="FF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0906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8FC"/>
                </a:solidFill>
                <a:latin typeface="Aptos"/>
              </a:rPr>
              <a:t>Priority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84248"/>
            <a:ext cx="309067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1BED2"/>
                </a:solidFill>
                <a:latin typeface="Aptos"/>
              </a:rPr>
              <a:t>Rule
Serve highest-priority eligible patient.
Behavior
Urgent cases move forward while lower-priority cases remain queued.
Trade-off
Needs a clear priority definition.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74720" cy="347472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64008" cy="3474720"/>
          </a:xfrm>
          <a:prstGeom prst="rect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90472"/>
            <a:ext cx="30906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8FC"/>
                </a:solidFill>
                <a:latin typeface="Aptos"/>
              </a:rPr>
              <a:t>Greedy + Sorting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84248"/>
            <a:ext cx="309067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1BED2"/>
                </a:solidFill>
                <a:latin typeface="Aptos"/>
              </a:rPr>
              <a:t>Rule
Repeatedly choose the best feasible current slot, then organize the result.
Behavior
Fast, transparent decisions with a schedule that is easy to display.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166360"/>
            <a:ext cx="8503920" cy="86868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5166360"/>
            <a:ext cx="64008" cy="868680"/>
          </a:xfrm>
          <a:prstGeom prst="rect">
            <a:avLst/>
          </a:prstGeom>
          <a:solidFill>
            <a:srgbClr val="A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8" y="5330952"/>
            <a:ext cx="81198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8FC"/>
                </a:solidFill>
                <a:latin typeface="Aptos"/>
              </a:rPr>
              <a:t>What we measure in the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5824728"/>
            <a:ext cx="8119872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1BED2"/>
                </a:solidFill>
                <a:latin typeface="Aptos"/>
              </a:rPr>
              <a:t>Average waiting time • maximum waiting time • doctor utilization • number of conflicts • scheduling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967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B1BED2"/>
                </a:solidFill>
                <a:latin typeface="Aptos"/>
              </a:rPr>
              <a:t>DAA Hackathon • Hospital Appointment Scheduler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6. Prototype →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ED2"/>
                </a:solidFill>
                <a:latin typeface="Aptos"/>
              </a:rPr>
              <a:t>A clear ending: what the system produces and why the DAA matters.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182880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1828800"/>
          </a:xfrm>
          <a:prstGeom prst="rect">
            <a:avLst/>
          </a:prstGeom>
          <a:solidFill>
            <a:srgbClr val="38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30449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8FC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84248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1BED2"/>
                </a:solidFill>
                <a:latin typeface="Aptos"/>
              </a:rPr>
              <a:t>Patient details
Doctor availability
Time slots
Priority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64008" cy="1828800"/>
          </a:xfrm>
          <a:prstGeom prst="rect">
            <a:avLst/>
          </a:prstGeom>
          <a:solidFill>
            <a:srgbClr val="4DE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90472"/>
            <a:ext cx="30449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8FC"/>
                </a:solidFill>
                <a:latin typeface="Aptos"/>
              </a:rPr>
              <a:t>ALGORITHM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1BED2"/>
                </a:solidFill>
                <a:latin typeface="Aptos"/>
              </a:rPr>
              <a:t>Priority Queue
Greedy allocation
Sorting
Conflict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25880"/>
            <a:ext cx="3429000" cy="182880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325880"/>
            <a:ext cx="64008" cy="1828800"/>
          </a:xfrm>
          <a:prstGeom prst="rect">
            <a:avLst/>
          </a:prstGeom>
          <a:solidFill>
            <a:srgbClr val="A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490472"/>
            <a:ext cx="30449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8FC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84248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1BED2"/>
                </a:solidFill>
                <a:latin typeface="Aptos"/>
              </a:rPr>
              <a:t>Appointment order
Doctor + slot
Waiting time
Clear 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3327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5F8FC"/>
                </a:solidFill>
                <a:latin typeface="Aptos Display"/>
              </a:rPr>
              <a:t>“From a crowded queue → to an explainable schedule.”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5074920"/>
            <a:ext cx="8321040" cy="868680"/>
          </a:xfrm>
          <a:prstGeom prst="roundRect">
            <a:avLst/>
          </a:prstGeom>
          <a:solidFill>
            <a:srgbClr val="141F34"/>
          </a:solidFill>
          <a:ln>
            <a:solidFill>
              <a:srgbClr val="28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5074920"/>
            <a:ext cx="64008" cy="86868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21408" y="5239512"/>
            <a:ext cx="79369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8FC"/>
                </a:solidFill>
                <a:latin typeface="Aptos"/>
              </a:rPr>
              <a:t>Hackathon demo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5733288"/>
            <a:ext cx="7936992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1BED2"/>
                </a:solidFill>
                <a:latin typeface="Aptos"/>
              </a:rPr>
              <a:t>Add patients → Run scheduler → Watch priority change → View final timetable → Compare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1BED2"/>
                </a:solidFill>
                <a:latin typeface="Aptos"/>
              </a:rPr>
              <a:t>Background references: hospital appointment scheduling research (ScienceDirect, 2015/2021) and DAA scheduling examples. Sources available in presenter notes.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967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B1BED2"/>
                </a:solidFill>
                <a:latin typeface="Aptos"/>
              </a:rPr>
              <a:t>DAA Hackathon • Hospital Appointment Scheduler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" y="65836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Sources: https://www.sciencedirect.com/science/article/pii/S2211692314200476 ; https://www.sciencedirect.com/science/article/abs/pii/S0360835221000292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